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a9112deb714e6c" /><Relationship Type="http://schemas.openxmlformats.org/officeDocument/2006/relationships/extended-properties" Target="/docProps/app.xml" Id="R44eb37567b3e43bb" /><Relationship Type="http://schemas.openxmlformats.org/officeDocument/2006/relationships/officeDocument" Target="/ppt/presentation.xml" Id="R12ccffe5984842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f3890f06af4d11"/>
  </p:sldMasterIdLst>
  <p:notesMasterIdLst>
    <p:notesMasterId xmlns:r="http://schemas.openxmlformats.org/officeDocument/2006/relationships" r:id="Rb3b7a55c2a61494a"/>
  </p:notesMasterIdLst>
  <p:sldIdLst>
    <p:sldId xmlns:r="http://schemas.openxmlformats.org/officeDocument/2006/relationships" id="256" r:id="Rd984dc52826042dd"/>
    <p:sldId xmlns:r="http://schemas.openxmlformats.org/officeDocument/2006/relationships" id="257" r:id="R3e1c0b0ebd93487f"/>
    <p:sldId xmlns:r="http://schemas.openxmlformats.org/officeDocument/2006/relationships" id="258" r:id="R8aeec05e3d4f45b0"/>
    <p:sldId xmlns:r="http://schemas.openxmlformats.org/officeDocument/2006/relationships" id="259" r:id="R22bd2b7316434a81"/>
    <p:sldId xmlns:r="http://schemas.openxmlformats.org/officeDocument/2006/relationships" id="260" r:id="Rac20cd6f7fc34109"/>
    <p:sldId xmlns:r="http://schemas.openxmlformats.org/officeDocument/2006/relationships" id="261" r:id="R70fb629c60534478"/>
    <p:sldId xmlns:r="http://schemas.openxmlformats.org/officeDocument/2006/relationships" id="262" r:id="Rdf7a8c290a01465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2db29f0bf745b1" /><Relationship Type="http://schemas.openxmlformats.org/officeDocument/2006/relationships/slideMaster" Target="/ppt/slideMasters/slideMaster1.xml" Id="R8af3890f06af4d11" /><Relationship Type="http://schemas.openxmlformats.org/officeDocument/2006/relationships/notesMaster" Target="/ppt/notesMasters/notesMaster1.xml" Id="Rb3b7a55c2a61494a" /><Relationship Type="http://schemas.openxmlformats.org/officeDocument/2006/relationships/presProps" Target="/ppt/presProps.xml" Id="Rde60974e8bc94e14" /><Relationship Type="http://schemas.openxmlformats.org/officeDocument/2006/relationships/tableStyles" Target="/ppt/tableStyles.xml" Id="R97f58884ca3141a4" /><Relationship Type="http://schemas.openxmlformats.org/officeDocument/2006/relationships/slide" Target="/ppt/slides/slide1.xml" Id="Rd984dc52826042dd" /><Relationship Type="http://schemas.openxmlformats.org/officeDocument/2006/relationships/slide" Target="/ppt/slides/slide2.xml" Id="R3e1c0b0ebd93487f" /><Relationship Type="http://schemas.openxmlformats.org/officeDocument/2006/relationships/slide" Target="/ppt/slides/slide3.xml" Id="R8aeec05e3d4f45b0" /><Relationship Type="http://schemas.openxmlformats.org/officeDocument/2006/relationships/slide" Target="/ppt/slides/slide4.xml" Id="R22bd2b7316434a81" /><Relationship Type="http://schemas.openxmlformats.org/officeDocument/2006/relationships/slide" Target="/ppt/slides/slide5.xml" Id="Rac20cd6f7fc34109" /><Relationship Type="http://schemas.openxmlformats.org/officeDocument/2006/relationships/slide" Target="/ppt/slides/slide6.xml" Id="R70fb629c60534478" /><Relationship Type="http://schemas.openxmlformats.org/officeDocument/2006/relationships/slide" Target="/ppt/slides/slide7.xml" Id="Rdf7a8c290a0146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cf3a615fcbd47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8ef53992444499" /><Relationship Type="http://schemas.openxmlformats.org/officeDocument/2006/relationships/notesMaster" Target="/ppt/notesMasters/notesMaster1.xml" Id="R9f18ff9198da43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26e1a31f2c43c7" /><Relationship Type="http://schemas.openxmlformats.org/officeDocument/2006/relationships/notesMaster" Target="/ppt/notesMasters/notesMaster1.xml" Id="Rfb5445ecc8984f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91da704a7d4f13" /><Relationship Type="http://schemas.openxmlformats.org/officeDocument/2006/relationships/notesMaster" Target="/ppt/notesMasters/notesMaster1.xml" Id="R3746807441a34c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a658436da34550" /><Relationship Type="http://schemas.openxmlformats.org/officeDocument/2006/relationships/notesMaster" Target="/ppt/notesMasters/notesMaster1.xml" Id="R867bde5e56854d9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68d804269d34638" /><Relationship Type="http://schemas.openxmlformats.org/officeDocument/2006/relationships/notesMaster" Target="/ppt/notesMasters/notesMaster1.xml" Id="R469a3a0a4dbb461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767383b19ff4929" /><Relationship Type="http://schemas.openxmlformats.org/officeDocument/2006/relationships/notesMaster" Target="/ppt/notesMasters/notesMaster1.xml" Id="Rb90c675faeaa43e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d288a41ad0c4c74" /><Relationship Type="http://schemas.openxmlformats.org/officeDocument/2006/relationships/notesMaster" Target="/ppt/notesMasters/notesMaster1.xml" Id="Ra806b71254cb4a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时间：25 秒</a:t>
            </a:r>
          </a:p>
          <a:p xmlns:a="http://schemas.openxmlformats.org/drawingml/2006/main">
            <a:r>
              <a:t>关键词：竞赛通知、会不会点开、姓名与班级</a:t>
            </a:r>
          </a:p>
          <a:p xmlns:a="http://schemas.openxmlformats.org/drawingml/2006/main">
            <a:r>
              <a:t>开场后停顿一秒，再问全场是否会点开通知。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时间：35 秒</a:t>
            </a:r>
          </a:p>
          <a:p xmlns:a="http://schemas.openxmlformats.org/drawingml/2006/main">
            <a:r>
              <a:t>关键词：通知缺上下文、适合谁、为什么参加、第一步</a:t>
            </a:r>
          </a:p>
          <a:p xmlns:a="http://schemas.openxmlformats.org/drawingml/2006/main">
            <a:r>
              <a:t>不要逐字念五个问题，扫过页面后总结：我要补齐这些信息。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时间：45 秒</a:t>
            </a:r>
          </a:p>
          <a:p xmlns:a="http://schemas.openxmlformats.org/drawingml/2006/main">
            <a:r>
              <a:t>关键词：Scratch、信息学竞赛、C++、ATRI、AI、舞萌</a:t>
            </a:r>
          </a:p>
          <a:p xmlns:a="http://schemas.openxmlformats.org/drawingml/2006/main">
            <a:r>
              <a:t>ATRI 只讲一句触发兴趣的故事，不展开剧情。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时间：55 秒</a:t>
            </a:r>
          </a:p>
          <a:p xmlns:a="http://schemas.openxmlformats.org/drawingml/2006/main">
            <a:r>
              <a:t>关键词：源码构建、本地部署、远程开发、帮助同学</a:t>
            </a:r>
          </a:p>
          <a:p xmlns:a="http://schemas.openxmlformats.org/drawingml/2006/main">
            <a:r>
              <a:t>不要逐个解释量化参数。用一句话说明自己能从文档走到可运行结果。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时间：40 秒</a:t>
            </a:r>
          </a:p>
          <a:p xmlns:a="http://schemas.openxmlformats.org/drawingml/2006/main">
            <a:r>
              <a:t>关键词：判断价值、解释门槛、提醒节点、主动性</a:t>
            </a:r>
          </a:p>
          <a:p xmlns:a="http://schemas.openxmlformats.org/drawingml/2006/main">
            <a:r>
              <a:t>说明边界：不会强迫组队，但会给出入口、答疑和自愿匹配。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时间：60 秒</a:t>
            </a:r>
          </a:p>
          <a:p xmlns:a="http://schemas.openxmlformats.org/drawingml/2006/main">
            <a:r>
              <a:t>关键词：每月情报、一周内指南、长期协作文档</a:t>
            </a:r>
          </a:p>
          <a:p xmlns:a="http://schemas.openxmlformats.org/drawingml/2006/main">
            <a:r>
              <a:t>这是核心页。讲清频率、产出和边界，不要扩展新的承诺。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时间：25 秒</a:t>
            </a:r>
          </a:p>
          <a:p xmlns:a="http://schemas.openxmlformats.org/drawingml/2006/main">
            <a:r>
              <a:t>关键词：三件事、认可这套做法、投票</a:t>
            </a:r>
          </a:p>
          <a:p xmlns:a="http://schemas.openxmlformats.org/drawingml/2006/main">
            <a:r>
              <a:t>说完后停顿，向全场致意，不再补充新的技术细节。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b6be2dd7b244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1afa839aa34a23" /><Relationship Type="http://schemas.openxmlformats.org/officeDocument/2006/relationships/slideLayout" Target="/ppt/slideLayouts/slideLayout1.xml" Id="R9da147d8364947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a147d8364947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63b5b9ae9e44e7" /><Relationship Type="http://schemas.openxmlformats.org/officeDocument/2006/relationships/image" Target="/ppt/media/image.png" Id="R95af3c5c5d5f49cb" /><Relationship Type="http://schemas.openxmlformats.org/officeDocument/2006/relationships/notesSlide" Target="/ppt/notesSlides/notesSlide1.xml" Id="Rbda15c1661ee49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100ce243b84d70" /><Relationship Type="http://schemas.openxmlformats.org/officeDocument/2006/relationships/notesSlide" Target="/ppt/notesSlides/notesSlide2.xml" Id="R8dc2bfeece5548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d861e44dde4fec" /><Relationship Type="http://schemas.openxmlformats.org/officeDocument/2006/relationships/notesSlide" Target="/ppt/notesSlides/notesSlide3.xml" Id="R90a05466b6f142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2d83f5d1a54c5b" /><Relationship Type="http://schemas.openxmlformats.org/officeDocument/2006/relationships/notesSlide" Target="/ppt/notesSlides/notesSlide4.xml" Id="R8c58e5effd53449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c31c3a60cd4c4a" /><Relationship Type="http://schemas.openxmlformats.org/officeDocument/2006/relationships/notesSlide" Target="/ppt/notesSlides/notesSlide5.xml" Id="Rfe1452b0d9db458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77ab61abdc45fb" /><Relationship Type="http://schemas.openxmlformats.org/officeDocument/2006/relationships/notesSlide" Target="/ppt/notesSlides/notesSlide6.xml" Id="R612e2c29b2aa429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285da449c94801" /><Relationship Type="http://schemas.openxmlformats.org/officeDocument/2006/relationships/image" Target="/ppt/media/image2.png" Id="R1b1702193fe9463d" /><Relationship Type="http://schemas.openxmlformats.org/officeDocument/2006/relationships/notesSlide" Target="/ppt/notesSlides/notesSlide7.xml" Id="R454827d2a9b34ec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C25930-B60A-4CE2-BE81-0B4E6E0C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5B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300F72-D594-43FE-8A91-BF8546E5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4381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5B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1C3DD6-419C-46E6-8A82-685198EA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ECE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CBECE8"/>
                </a:solidFill>
                <a:latin typeface="Hiragino Sans GB"/>
                <a:ea typeface="Hiragino Sans GB"/>
                <a:cs typeface="Hiragino Sans GB"/>
              </a:rPr>
              <a:t>[西南大学计算机与信息科学学院]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893258-C596-4EEB-84F3-C0C50B54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5810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400" b="1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rPr>
              <a:t>科创委员</a:t>
            </a:r>
          </a:p>
          <a:p xmlns:a="http://schemas.openxmlformats.org/drawingml/2006/main">
            <a:pPr algn="l">
              <a:defRPr sz="5400" b="1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400" b="1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rPr>
              <a:t>竞选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A705F7-8D54-4B20-8FE5-4CA08094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581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86F4E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86F4E9"/>
                </a:solidFill>
                <a:latin typeface="Hiragino Sans GB"/>
                <a:ea typeface="Hiragino Sans GB"/>
                <a:cs typeface="Hiragino Sans GB"/>
              </a:rPr>
              <a:t>把散落的信息，整理成能开始的一步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FE5CCB-2C23-4EC9-968C-24F365E3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148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5A9E"/>
                </a:solidFill>
                <a:latin typeface="Menlo"/>
                <a:ea typeface="Menlo"/>
                <a:cs typeface="Menlo"/>
              </a:defRPr>
            </a:pPr>
            <a:r>
              <a:rPr sz="1725" b="1">
                <a:solidFill>
                  <a:srgbClr val="FF5A9E"/>
                </a:solidFill>
                <a:latin typeface="Menlo"/>
                <a:ea typeface="Menlo"/>
                <a:cs typeface="Menlo"/>
              </a:rPr>
              <a:t>[姓名]  ·  [班级]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AEDF49-396C-4224-964B-10318DB5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53025"/>
            <a:ext cx="5143500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31586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407D5B-B105-49BA-A076-0397EBA5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2768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rPr>
              <a:t>群里来了一条竞赛通知，</a:t>
            </a:r>
          </a:p>
          <a:p xmlns:a="http://schemas.openxmlformats.org/drawingml/2006/main">
            <a:pPr algn="l">
              <a:defRPr sz="1800" b="1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rPr>
              <a:t>你通常会点开吗？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af3c5c5d5f49cb"/>
          <a:stretch xmlns:a="http://schemas.openxmlformats.org/drawingml/2006/main"/>
        </p:blipFill>
        <p:spPr>
          <a:xfrm xmlns:a="http://schemas.openxmlformats.org/drawingml/2006/main">
            <a:off x="6678787" y="238125"/>
            <a:ext cx="5120926" cy="6238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335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F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690A1F-6CEF-492F-ABA7-8029C1E7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5A9E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FF5A9E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5DF7D4-03F5-45B8-A743-56202B16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990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75" b="1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rPr>
              <a:t>为什么一条通知常常停在群里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8A7C49-3AF9-4722-A2BA-5A94F4EF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525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80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6808B"/>
                </a:solidFill>
                <a:latin typeface="Hiragino Sans GB"/>
                <a:ea typeface="Hiragino Sans GB"/>
                <a:cs typeface="Hiragino Sans GB"/>
              </a:rPr>
              <a:t>大家缺少的，往往是决定是否行动的上下文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CC3DE8-5AB1-4714-A54F-6B1CB28F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85925"/>
            <a:ext cx="25717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0" b="1">
                <a:solidFill>
                  <a:srgbClr val="CBECE8"/>
                </a:solidFill>
                <a:latin typeface="Menlo"/>
                <a:ea typeface="Menlo"/>
                <a:cs typeface="Menlo"/>
              </a:defRPr>
            </a:pPr>
            <a:r>
              <a:rPr sz="21000" b="1">
                <a:solidFill>
                  <a:srgbClr val="CBECE8"/>
                </a:solidFill>
                <a:latin typeface="Menlo"/>
                <a:ea typeface="Menlo"/>
                <a:cs typeface="Menlo"/>
              </a:rPr>
              <a:t>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E4D8F0-DE97-4E25-8555-4F84843A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383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A9E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FF5A9E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2A966A-9718-46EB-AA7D-053D7BA8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097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rPr>
              <a:t>这是什么比赛？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D8434B-738A-4C87-9F26-DF9052BB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24100"/>
            <a:ext cx="676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8D9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27EA5D-0923-4990-90C2-A32A3B0E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193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A9E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FF5A9E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C7F9C1-95D7-4593-97C3-B2AFFC6F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908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rPr>
              <a:t>我现在适合参加吗？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C72F6A-A4DB-4B00-99BC-31B74496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05150"/>
            <a:ext cx="676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8D9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A610C8-2CE5-4991-BD09-2ABAD4C9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004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A9E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FF5A9E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8E3344-4AFA-45C6-9A74-69F3E601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718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rPr>
              <a:t>参加它有什么价值？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8AED43-7EBE-4F5C-B9A2-B2C5F170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86200"/>
            <a:ext cx="676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8D9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B1EF43-51E1-47E3-87F3-39409C65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814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A9E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FF5A9E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23C1C8-F16C-474B-A76E-AD5EA87D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529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rPr>
              <a:t>截止时间和准备成本是多少？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7C1641-A76D-4FE9-9C8E-AC797279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67250"/>
            <a:ext cx="676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8D9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657DAE-A55F-455D-808F-4A3768FF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625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A9E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FF5A9E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8B1309-49D9-4698-9B02-40D77F87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339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rPr>
              <a:t>没有队友时，第一步怎么走？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2703BE-2B2A-4CE0-8F96-DE6C3579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791200"/>
            <a:ext cx="7658100" cy="438150"/>
          </a:xfrm>
          <a:prstGeom xmlns:a="http://schemas.openxmlformats.org/drawingml/2006/main" prst="roundRect">
            <a:avLst>
              <a:gd name="adj" fmla="val 30435"/>
            </a:avLst>
          </a:prstGeom>
          <a:solidFill xmlns:a="http://schemas.openxmlformats.org/drawingml/2006/main">
            <a:srgbClr val="39C5B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6826B6-9399-410C-B3C4-819914CD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857875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111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08111F"/>
                </a:solidFill>
                <a:latin typeface="Hiragino Sans GB"/>
                <a:ea typeface="Hiragino Sans GB"/>
                <a:cs typeface="Hiragino Sans GB"/>
              </a:rPr>
              <a:t>一条可行动的信息，需要补齐上下文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8D55F4-D774-4BBE-8D1B-F7E2D451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8D9D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6C5F3E-063D-4782-AC8C-081AB8EE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808B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66808B"/>
                </a:solidFill>
                <a:latin typeface="Menlo"/>
                <a:ea typeface="Menlo"/>
                <a:cs typeface="Menlo"/>
              </a:rPr>
              <a:t>02 / 07</a:t>
            </a:r>
          </a:p>
        </p:txBody>
      </p:sp>
    </p:spTree>
    <p:extLst>
      <p:ext uri="{BB962C8B-B14F-4D97-AF65-F5344CB8AC3E}">
        <p14:creationId xmlns:p14="http://schemas.microsoft.com/office/powerpoint/2010/main" val="7215796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CADD60-0AAF-4BF8-86A2-9BA95D4F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5A9E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FF5A9E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A507A4-5DD8-4F52-BBF8-018E64C0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990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75" b="1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rPr>
              <a:t>我的技术路径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17EB6E-1DE6-40B1-AADD-7C2D9A2F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525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80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6808B"/>
                </a:solidFill>
                <a:latin typeface="Hiragino Sans GB"/>
                <a:ea typeface="Hiragino Sans GB"/>
                <a:cs typeface="Hiragino Sans GB"/>
              </a:rPr>
              <a:t>兴趣起步，持续动手，把陌生工具变成能运行的东西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E53A26-29DE-4B94-96DD-6F023647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286125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8D9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C2AC21-451B-4510-B30C-190E6951D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146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C5BB"/>
          </a:solidFill>
          <a:ln xmlns:a="http://schemas.openxmlformats.org/drawingml/2006/main" w="38100">
            <a:solidFill>
              <a:srgbClr val="FFFF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967F96-BBED-42F5-8A7E-513A2669D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160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9C5BB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39C5BB"/>
                </a:solidFill>
                <a:latin typeface="Menlo"/>
                <a:ea typeface="Menlo"/>
                <a:cs typeface="Menlo"/>
              </a:rPr>
              <a:t>SCRATCH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6D8C0F-E46D-498A-A41A-9C908A2D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752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rPr>
              <a:t>小学接触编程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9A88DA-FB91-4A40-8BD8-78906E08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1146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C5BB"/>
          </a:solidFill>
          <a:ln xmlns:a="http://schemas.openxmlformats.org/drawingml/2006/main" w="38100">
            <a:solidFill>
              <a:srgbClr val="FFFF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8CACCE-4B99-4F38-BB1F-13B8F7CB6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333625"/>
            <a:ext cx="160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9C5BB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39C5BB"/>
                </a:solidFill>
                <a:latin typeface="Menlo"/>
                <a:ea typeface="Menlo"/>
                <a:cs typeface="Menlo"/>
              </a:rPr>
              <a:t>OI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2B6EAA-BDFF-41F3-B60B-C3F65790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638550"/>
            <a:ext cx="1752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rPr>
              <a:t>初中信息学竞赛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868E1C-1166-4072-A311-9F45FC94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1146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C5BB"/>
          </a:solidFill>
          <a:ln xmlns:a="http://schemas.openxmlformats.org/drawingml/2006/main" w="38100">
            <a:solidFill>
              <a:srgbClr val="FFFF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C40143-309C-474D-BAFE-BF614D81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333625"/>
            <a:ext cx="160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9C5BB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39C5BB"/>
                </a:solidFill>
                <a:latin typeface="Menlo"/>
                <a:ea typeface="Menlo"/>
                <a:cs typeface="Menlo"/>
              </a:rPr>
              <a:t>C++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861AB7-71E0-4784-9DAE-C8CE6C7F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38550"/>
            <a:ext cx="1752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rPr>
              <a:t>算法与数据结构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CF484D-6CCA-4B30-B54F-BE75D54A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1146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C5BB"/>
          </a:solidFill>
          <a:ln xmlns:a="http://schemas.openxmlformats.org/drawingml/2006/main" w="38100">
            <a:solidFill>
              <a:srgbClr val="FFFF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54E918-1154-4F2A-9706-C3318D97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333625"/>
            <a:ext cx="160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9C5BB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39C5BB"/>
                </a:solidFill>
                <a:latin typeface="Menlo"/>
                <a:ea typeface="Menlo"/>
                <a:cs typeface="Menlo"/>
              </a:rPr>
              <a:t>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C5DF8B-2E52-422C-99D6-FBAAAA45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638550"/>
            <a:ext cx="1752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rPr>
              <a:t>llama.cpp 与本地模型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D49CBF-241A-407D-8870-59C2F80F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1146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9E"/>
          </a:solidFill>
          <a:ln xmlns:a="http://schemas.openxmlformats.org/drawingml/2006/main" w="38100">
            <a:solidFill>
              <a:srgbClr val="FFFF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730F41-E399-482F-9ED2-AFC273D9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33625"/>
            <a:ext cx="160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5A9E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FF5A9E"/>
                </a:solidFill>
                <a:latin typeface="Menlo"/>
                <a:ea typeface="Menlo"/>
                <a:cs typeface="Menlo"/>
              </a:rPr>
              <a:t>AGENT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7B7E86-6E1C-4AC1-8E62-D0B17D4F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38550"/>
            <a:ext cx="1752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rPr>
              <a:t>跨设备开发工作流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B1FC30-ECAF-4C7C-B9CE-674C35DFD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10820400" cy="9906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08111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FAD489-1E6A-4ECD-AF81-7C86F92A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62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rPr>
              <a:t>术曲爱好者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331929-F0AC-418B-B282-DB630AD9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51625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6F4E9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86F4E9"/>
                </a:solidFill>
                <a:latin typeface="Menlo"/>
                <a:ea typeface="Menlo"/>
                <a:cs typeface="Menlo"/>
              </a:rPr>
              <a:t>舞萌 DX  Rating 12000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750515-094E-48F8-A488-99875890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1625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rPr>
              <a:t>3A 与网游都玩一些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363ED2-8B8B-46C2-B1C9-E5071B161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62600"/>
            <a:ext cx="966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ECE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CBECE8"/>
                </a:solidFill>
                <a:latin typeface="Hiragino Sans GB"/>
                <a:ea typeface="Hiragino Sans GB"/>
                <a:cs typeface="Hiragino Sans GB"/>
              </a:rPr>
              <a:t>舞萌可以理解成 2.5D 的节奏大师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C98F73-FF36-47EA-8A8F-2D683276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8D9D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EC3944-302A-4805-8671-BC089A1F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808B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66808B"/>
                </a:solidFill>
                <a:latin typeface="Menlo"/>
                <a:ea typeface="Menlo"/>
                <a:cs typeface="Menlo"/>
              </a:rPr>
              <a:t>03 / 07</a:t>
            </a:r>
          </a:p>
        </p:txBody>
      </p:sp>
    </p:spTree>
    <p:extLst>
      <p:ext uri="{BB962C8B-B14F-4D97-AF65-F5344CB8AC3E}">
        <p14:creationId xmlns:p14="http://schemas.microsoft.com/office/powerpoint/2010/main" val="4616838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F563B2-6A40-4372-8AD2-BBC0E98D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5A9E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FF5A9E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A127F2-21F7-4A58-891E-81F00BA2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990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75" b="1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rPr>
              <a:t>我确实动手解决过问题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3F40A1-C910-40C7-8EA9-193FBFA7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525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BECE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CBECE8"/>
                </a:solidFill>
                <a:latin typeface="Hiragino Sans GB"/>
                <a:ea typeface="Hiragino Sans GB"/>
                <a:cs typeface="Hiragino Sans GB"/>
              </a:rPr>
              <a:t>技术名词只占一行，能运行、能排错、能帮助别人更重要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CC1333-3390-4AE9-B23A-7A148B74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33400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19050">
            <a:solidFill>
              <a:srgbClr val="FF5A9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9546D4-387C-466A-B670-D57B706B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2407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5A9E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F5A9E"/>
                </a:solidFill>
                <a:latin typeface="Menlo"/>
                <a:ea typeface="Menlo"/>
                <a:cs typeface="Menlo"/>
              </a:rPr>
              <a:t>PLACEHOLDER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2C0736-F175-46A4-9148-0F27B3D2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66975"/>
            <a:ext cx="49530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rPr>
              <a:t>替换为</a:t>
            </a:r>
          </a:p>
          <a:p xmlns:a="http://schemas.openxmlformats.org/drawingml/2006/main">
            <a:pPr algn="ctr">
              <a:defRPr sz="1650" b="0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rPr>
              <a:t>LM Studio 模型运行截图</a:t>
            </a:r>
          </a:p>
          <a:p xmlns:a="http://schemas.openxmlformats.org/drawingml/2006/main">
            <a:pPr algn="ctr">
              <a:defRPr sz="1650" b="0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rPr>
              <a:t>或 llama.cpp 构建截图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AD61D5-951A-4BB0-9B4D-AB4BD679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86F4E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86F4E9"/>
                </a:solidFill>
                <a:latin typeface="Hiragino Sans GB"/>
                <a:ea typeface="Hiragino Sans GB"/>
                <a:cs typeface="Hiragino Sans GB"/>
              </a:rPr>
              <a:t>本地模型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D6A07E-BB7B-484B-A07C-C9CC4F10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4315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rPr>
              <a:t>从源码构建 llama.cpp</a:t>
            </a:r>
          </a:p>
          <a:p xmlns:a="http://schemas.openxmlformats.org/drawingml/2006/main">
            <a:pPr algn="l">
              <a:defRPr sz="1575" b="0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rPr>
              <a:t>部署 Qwen3-14B 与 Qwen3.6-35B-A3B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D44C62-1B14-4F00-BFE9-5E5B7324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0992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86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421C0-1A81-4CBC-A474-59050C4C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766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86F4E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86F4E9"/>
                </a:solidFill>
                <a:latin typeface="Hiragino Sans GB"/>
                <a:ea typeface="Hiragino Sans GB"/>
                <a:cs typeface="Hiragino Sans GB"/>
              </a:rPr>
              <a:t>开发工作流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C74941-0157-45A3-8FD2-1B9AEEB7F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671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rPr>
              <a:t>Windows 台式机 + Mac</a:t>
            </a:r>
          </a:p>
          <a:p xmlns:a="http://schemas.openxmlformats.org/drawingml/2006/main">
            <a:pPr algn="l">
              <a:defRPr sz="1575" b="0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rPr>
              <a:t>远程 SSH 开发与 Agent 协作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EA8AA1-B44A-4211-A817-2C6C1D84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9582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86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ABE453-2B90-48B0-A2EC-26A2CE2F3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625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86F4E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86F4E9"/>
                </a:solidFill>
                <a:latin typeface="Hiragino Sans GB"/>
                <a:ea typeface="Hiragino Sans GB"/>
                <a:cs typeface="Hiragino Sans GB"/>
              </a:rPr>
              <a:t>同学答疑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115830-66EA-4BA9-9A04-28A2A980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6257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rPr>
              <a:t>配置 VS Code，排查代码逻辑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60345A-C639-4DE6-B214-D4CF911D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9775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ECE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CBECE8"/>
                </a:solidFill>
                <a:latin typeface="Menlo"/>
                <a:ea typeface="Menlo"/>
                <a:cs typeface="Menlo"/>
              </a:rPr>
              <a:t>i5-10600KF  /  RTX 5060 Ti 16GB  /  16GB DDR4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916AEA-E47E-4937-AAE7-D54CD59F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86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30330A-4616-4623-8308-560AAA0F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CBECE8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CBECE8"/>
                </a:solidFill>
                <a:latin typeface="Menlo"/>
                <a:ea typeface="Menlo"/>
                <a:cs typeface="Menlo"/>
              </a:rPr>
              <a:t>04 / 07</a:t>
            </a:r>
          </a:p>
        </p:txBody>
      </p:sp>
    </p:spTree>
    <p:extLst>
      <p:ext uri="{BB962C8B-B14F-4D97-AF65-F5344CB8AC3E}">
        <p14:creationId xmlns:p14="http://schemas.microsoft.com/office/powerpoint/2010/main" val="26507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F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5CBE82-216B-4C9B-8912-E48AB08D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5A9E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FF5A9E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0CD1F9-E59A-4726-9CDE-7DC4A4EE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990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75" b="1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rPr>
              <a:t>我理解的科创委员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75B415-5B15-4ECC-8C35-95CEECB0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525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80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6808B"/>
                </a:solidFill>
                <a:latin typeface="Hiragino Sans GB"/>
                <a:ea typeface="Hiragino Sans GB"/>
                <a:cs typeface="Hiragino Sans GB"/>
              </a:rPr>
              <a:t>让消息形成下一步动作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537DAE-F12E-4B5B-A9E4-037FED19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5267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C5B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B9DE4-F679-482D-8D1D-0184F553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1460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111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08111F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765AA7-B1FA-4101-B921-DAB86148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30517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rPr>
              <a:t>收到信息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01D982-8EDA-4C7F-A436-FBE1257F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714625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8D9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9D9AE5-5FD4-4078-97A0-0E910367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5267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C5B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420963-6502-42BB-8B56-1CCAB86B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1460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111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08111F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153866-FC82-4072-8C52-55680AC6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0517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rPr>
              <a:t>判断价值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EFA69D-4C8F-4335-AD86-DEF12875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14625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8D9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6BFE83-610B-4B34-8090-99971DD8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35267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C5B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5D8524-D232-4011-AAA2-7837832AA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51460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111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08111F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6F80F0-BBC8-4A36-B34A-4CFDABBFB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30517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rPr>
              <a:t>解释门槛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75BD32-2493-4B0A-AAA6-08D046B6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714625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8D9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4A712E-2E02-4A71-A807-7E8E41C9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5267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C5B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507975-7CA1-4E97-B667-96F4FC30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1460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111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08111F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7049B9-91A0-4D9B-AA45-D13DB76BF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30517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rPr>
              <a:t>提醒节点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4A4E32-66D2-4D90-AFC9-59E2194A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14625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8D9D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A2BDCB-073A-488D-B441-DB93510C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35267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9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A0C629-4571-463A-B01A-6FEFC8D4B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51460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111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08111F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79AB49-610A-4450-A8F8-9225FF54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30517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rPr>
              <a:t>协助开始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0C2638-DB5F-4655-9856-F2A96C3C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0"/>
            <a:ext cx="9715500" cy="1143000"/>
          </a:xfrm>
          <a:prstGeom xmlns:a="http://schemas.openxmlformats.org/drawingml/2006/main" prst="roundRect">
            <a:avLst>
              <a:gd name="adj" fmla="val 18333"/>
            </a:avLst>
          </a:prstGeom>
          <a:solidFill xmlns:a="http://schemas.openxmlformats.org/drawingml/2006/main">
            <a:srgbClr val="08111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19FE97-4AAA-4CD3-B416-D541161A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86300"/>
            <a:ext cx="876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rPr>
              <a:t>我会把信息掰碎、放到你面前。</a:t>
            </a:r>
          </a:p>
          <a:p xmlns:a="http://schemas.openxmlformats.org/drawingml/2006/main">
            <a:pPr algn="ctr">
              <a:defRPr sz="2250" b="1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rPr>
              <a:t>最后一步，需要我们一起完成。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DB0D52-7F26-479E-A349-0951DAA3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8D9D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CE1913-14EB-4E35-9E34-AABFF920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808B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66808B"/>
                </a:solidFill>
                <a:latin typeface="Menlo"/>
                <a:ea typeface="Menlo"/>
                <a:cs typeface="Menlo"/>
              </a:rPr>
              <a:t>05 / 07</a:t>
            </a:r>
          </a:p>
        </p:txBody>
      </p:sp>
    </p:spTree>
    <p:extLst>
      <p:ext uri="{BB962C8B-B14F-4D97-AF65-F5344CB8AC3E}">
        <p14:creationId xmlns:p14="http://schemas.microsoft.com/office/powerpoint/2010/main" val="6422728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E7BB4D-1F02-4B48-8ADA-63B740BE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5A9E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FF5A9E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EF7319-AF93-481C-A51F-1FFF9B2DF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990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75" b="1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rPr>
              <a:t>当选后的三个交付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B8480E-582C-43BF-8D95-A1FB6B15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525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80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6808B"/>
                </a:solidFill>
                <a:latin typeface="Hiragino Sans GB"/>
                <a:ea typeface="Hiragino Sans GB"/>
                <a:cs typeface="Hiragino Sans GB"/>
              </a:rPr>
              <a:t>每一项都有明确的频率、产出和使用方式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79E65C-1696-469D-BFBD-3F911954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14525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39C5BB"/>
                </a:solidFill>
                <a:latin typeface="Menlo"/>
                <a:ea typeface="Menlo"/>
                <a:cs typeface="Menlo"/>
              </a:defRPr>
            </a:pPr>
            <a:r>
              <a:rPr sz="3675" b="1">
                <a:solidFill>
                  <a:srgbClr val="39C5BB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8ACB68-CE0E-4C9B-88D1-EED14A19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9907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C5BB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39C5BB"/>
                </a:solidFill>
                <a:latin typeface="Menlo"/>
                <a:ea typeface="Menlo"/>
                <a:cs typeface="Menlo"/>
              </a:rPr>
              <a:t>每月 1 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97A251-C782-4A02-840B-41D45187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93357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rPr>
              <a:t>科创情报整理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F609FE-C9EB-433A-859D-0CDD4765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00300"/>
            <a:ext cx="695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80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6808B"/>
                </a:solidFill>
                <a:latin typeface="Hiragino Sans GB"/>
                <a:ea typeface="Hiragino Sans GB"/>
                <a:cs typeface="Hiragino Sans GB"/>
              </a:rPr>
              <a:t>班群发布，个人页面归档。标明内容、适合人群、参与价值和下一步。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73BAD6-8BEB-4038-9E83-C20BFE6F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095625"/>
            <a:ext cx="904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8D9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9F79B4-5F00-4A37-85A4-E4B74219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39C5BB"/>
                </a:solidFill>
                <a:latin typeface="Menlo"/>
                <a:ea typeface="Menlo"/>
                <a:cs typeface="Menlo"/>
              </a:defRPr>
            </a:pPr>
            <a:r>
              <a:rPr sz="3675" b="1">
                <a:solidFill>
                  <a:srgbClr val="39C5BB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87BB22-FA0D-46CF-8B9B-ED3D5261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3718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C5BB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39C5BB"/>
                </a:solidFill>
                <a:latin typeface="Menlo"/>
                <a:ea typeface="Menlo"/>
                <a:cs typeface="Menlo"/>
              </a:rPr>
              <a:t>当选后 1 周内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D69126-2B0E-40B3-8D85-84414327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3147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rPr>
              <a:t>Windows C++ 环境指南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8C4D44-A8E8-48F1-BAB3-1D9B72D6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81425"/>
            <a:ext cx="695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80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6808B"/>
                </a:solidFill>
                <a:latin typeface="Hiragino Sans GB"/>
                <a:ea typeface="Hiragino Sans GB"/>
                <a:cs typeface="Hiragino Sans GB"/>
              </a:rPr>
              <a:t>覆盖 VS Code 与编译器安装，直到第一个程序成功运行。先解决常见的“微软大战代码”。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39E095-620C-4B04-A1B2-AC0762C37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476750"/>
            <a:ext cx="904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8D9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18062E-6B7D-40A4-BFC2-86C588D4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76775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F5A9E"/>
                </a:solidFill>
                <a:latin typeface="Menlo"/>
                <a:ea typeface="Menlo"/>
                <a:cs typeface="Menlo"/>
              </a:defRPr>
            </a:pPr>
            <a:r>
              <a:rPr sz="3675" b="1">
                <a:solidFill>
                  <a:srgbClr val="FF5A9E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296231-AD64-4ECD-83C2-AB43CBE0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7529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A9E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FF5A9E"/>
                </a:solidFill>
                <a:latin typeface="Menlo"/>
                <a:ea typeface="Menlo"/>
                <a:cs typeface="Menlo"/>
              </a:rPr>
              <a:t>长期维护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0F51EE-25B1-404A-815D-1EFDBFBF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9582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rPr>
              <a:t>协作文档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237543-5EAA-483D-B850-F57CD7DD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162550"/>
            <a:ext cx="695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80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6808B"/>
                </a:solidFill>
                <a:latin typeface="Hiragino Sans GB"/>
                <a:ea typeface="Hiragino Sans GB"/>
                <a:cs typeface="Hiragino Sans GB"/>
              </a:rPr>
              <a:t>收集问题、参赛意向和组队需求，整理常见答案，在自愿前提下协助匹配。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1376EF-7232-4DD5-9093-8BDBB914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8D9D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3C2BDD-9A25-478E-977D-07BB209C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808B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66808B"/>
                </a:solidFill>
                <a:latin typeface="Menlo"/>
                <a:ea typeface="Menlo"/>
                <a:cs typeface="Menlo"/>
              </a:rPr>
              <a:t>06 / 07</a:t>
            </a:r>
          </a:p>
        </p:txBody>
      </p:sp>
    </p:spTree>
    <p:extLst>
      <p:ext uri="{BB962C8B-B14F-4D97-AF65-F5344CB8AC3E}">
        <p14:creationId xmlns:p14="http://schemas.microsoft.com/office/powerpoint/2010/main" val="3671233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1702193fe9463d"/>
          <a:srcRect xmlns:a="http://schemas.openxmlformats.org/drawingml/2006/main" l="23148" t="0" r="231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0"/>
            <a:ext cx="5524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4AB121-BAE6-45BF-95D1-EFB2526F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BCA671-52A2-48F6-A4F1-D2B9C388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419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5B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64A588-58CF-40EB-9D06-54317D02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561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rPr>
              <a:t>下一次通知出现时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36D951-B6C9-4FAB-9488-0220B5C2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5334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6F4E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86F4E9"/>
                </a:solidFill>
                <a:latin typeface="Hiragino Sans GB"/>
                <a:ea typeface="Hiragino Sans GB"/>
                <a:cs typeface="Hiragino Sans GB"/>
              </a:rPr>
              <a:t>希望每条信息都能回答三件事：</a:t>
            </a:r>
          </a:p>
          <a:p xmlns:a="http://schemas.openxmlformats.org/drawingml/2006/main">
            <a:pPr algn="l">
              <a:defRPr sz="2325" b="1">
                <a:solidFill>
                  <a:srgbClr val="86F4E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86F4E9"/>
                </a:solidFill>
                <a:latin typeface="Hiragino Sans GB"/>
                <a:ea typeface="Hiragino Sans GB"/>
                <a:cs typeface="Hiragino Sans GB"/>
              </a:rPr>
              <a:t>我是否适合、为什么参加、</a:t>
            </a:r>
          </a:p>
          <a:p xmlns:a="http://schemas.openxmlformats.org/drawingml/2006/main">
            <a:pPr algn="l">
              <a:defRPr sz="2325" b="1">
                <a:solidFill>
                  <a:srgbClr val="86F4E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86F4E9"/>
                </a:solidFill>
                <a:latin typeface="Hiragino Sans GB"/>
                <a:ea typeface="Hiragino Sans GB"/>
                <a:cs typeface="Hiragino Sans GB"/>
              </a:rPr>
              <a:t>第一步怎么走。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9FDD89-5625-4544-8CC3-F9F35699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24275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rPr>
              <a:t>如果你认可这套做法，请投我一票。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B30806-AC20-48FD-A919-170DB2EAD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52950"/>
            <a:ext cx="1352550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19050">
            <a:solidFill>
              <a:srgbClr val="FF5A9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A9D2E0-7FAD-42B2-8D78-C24522E7F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5A9E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F5A9E"/>
                </a:solidFill>
                <a:latin typeface="Menlo"/>
                <a:ea typeface="Menlo"/>
                <a:cs typeface="Menlo"/>
              </a:rPr>
              <a:t>PLACEHOLDER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1A3B96-7CB7-4CD3-8DFA-F96550A0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67300"/>
            <a:ext cx="971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rPr>
              <a:t>GitHub Pages</a:t>
            </a:r>
          </a:p>
          <a:p xmlns:a="http://schemas.openxmlformats.org/drawingml/2006/main">
            <a:pPr algn="ctr">
              <a:defRPr sz="1650" b="0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rPr>
              <a:t>二维码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3082D9-6537-477B-85E3-34D981A88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552950"/>
            <a:ext cx="1352550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19050">
            <a:solidFill>
              <a:srgbClr val="FF5A9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18CD43-9883-4445-9597-0692C752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72440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5A9E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F5A9E"/>
                </a:solidFill>
                <a:latin typeface="Menlo"/>
                <a:ea typeface="Menlo"/>
                <a:cs typeface="Menlo"/>
              </a:rPr>
              <a:t>PLACEHOLDER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09EDC0-71F7-48AF-843B-18548319C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067300"/>
            <a:ext cx="971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rPr>
              <a:t>协作文档</a:t>
            </a:r>
          </a:p>
          <a:p xmlns:a="http://schemas.openxmlformats.org/drawingml/2006/main">
            <a:pPr algn="ctr">
              <a:defRPr sz="1650" b="0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rPr>
              <a:t>二维码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A65311-E50C-4E33-8027-6B3CAFBCA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720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BECE8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CBECE8"/>
                </a:solidFill>
                <a:latin typeface="Menlo"/>
                <a:ea typeface="Menlo"/>
                <a:cs typeface="Menlo"/>
              </a:rPr>
              <a:t>[姓名]  ·  科创委员竞选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E5E0AF-9A5B-4DBF-BC22-2B7140DE1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514975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5A9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FF5A9E"/>
                </a:solidFill>
                <a:latin typeface="Hiragino Sans GB"/>
                <a:ea typeface="Hiragino Sans GB"/>
                <a:cs typeface="Hiragino Sans GB"/>
              </a:rPr>
              <a:t>谢谢</a:t>
            </a:r>
          </a:p>
        </p:txBody>
      </p:sp>
    </p:spTree>
    <p:extLst>
      <p:ext uri="{BB962C8B-B14F-4D97-AF65-F5344CB8AC3E}">
        <p14:creationId xmlns:p14="http://schemas.microsoft.com/office/powerpoint/2010/main" val="10335265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2026-09-18T11:41:48.9600000Z</dcterms:created>
  <dcterms:modified xsi:type="dcterms:W3CDTF">2026-09-18T11:41:48.9600000Z</dcterms:modified>
</coreProperties>
</file>